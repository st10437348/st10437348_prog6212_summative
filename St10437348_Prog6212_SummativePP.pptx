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lexandria Bold" panose="020B0604020202020204" charset="-78"/>
      <p:regular r:id="rId22"/>
    </p:embeddedFont>
    <p:embeddedFont>
      <p:font typeface="Garet" panose="020B0604020202020204" charset="0"/>
      <p:regular r:id="rId23"/>
    </p:embeddedFont>
    <p:embeddedFont>
      <p:font typeface="Garet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8.sv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8.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8.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8.sv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8.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8.sv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8.sv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400000" flipH="1" flipV="1">
            <a:off x="13890343" y="5516388"/>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rot="-212327" flipH="1">
            <a:off x="-1633813"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flipH="1">
            <a:off x="-2020970"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TextBox 8"/>
          <p:cNvSpPr txBox="1"/>
          <p:nvPr/>
        </p:nvSpPr>
        <p:spPr>
          <a:xfrm>
            <a:off x="2088066" y="2276270"/>
            <a:ext cx="14111869" cy="3142305"/>
          </a:xfrm>
          <a:prstGeom prst="rect">
            <a:avLst/>
          </a:prstGeom>
        </p:spPr>
        <p:txBody>
          <a:bodyPr lIns="0" tIns="0" rIns="0" bIns="0" rtlCol="0" anchor="t">
            <a:spAutoFit/>
          </a:bodyPr>
          <a:lstStyle/>
          <a:p>
            <a:pPr algn="ctr">
              <a:lnSpc>
                <a:spcPts val="12652"/>
              </a:lnSpc>
            </a:pPr>
            <a:r>
              <a:rPr lang="en-US" sz="9037" b="1">
                <a:solidFill>
                  <a:srgbClr val="3F3D3E"/>
                </a:solidFill>
                <a:latin typeface="Alexandria Bold"/>
                <a:ea typeface="Alexandria Bold"/>
                <a:cs typeface="Alexandria Bold"/>
                <a:sym typeface="Alexandria Bold"/>
              </a:rPr>
              <a:t>Contract Monthly Claim System</a:t>
            </a:r>
          </a:p>
        </p:txBody>
      </p:sp>
      <p:sp>
        <p:nvSpPr>
          <p:cNvPr id="9" name="TextBox 9"/>
          <p:cNvSpPr txBox="1"/>
          <p:nvPr/>
        </p:nvSpPr>
        <p:spPr>
          <a:xfrm>
            <a:off x="4062982" y="5703013"/>
            <a:ext cx="10162036" cy="772317"/>
          </a:xfrm>
          <a:prstGeom prst="rect">
            <a:avLst/>
          </a:prstGeom>
        </p:spPr>
        <p:txBody>
          <a:bodyPr lIns="0" tIns="0" rIns="0" bIns="0" rtlCol="0" anchor="t">
            <a:spAutoFit/>
          </a:bodyPr>
          <a:lstStyle/>
          <a:p>
            <a:pPr algn="ctr">
              <a:lnSpc>
                <a:spcPts val="6256"/>
              </a:lnSpc>
              <a:spcBef>
                <a:spcPct val="0"/>
              </a:spcBef>
            </a:pPr>
            <a:r>
              <a:rPr lang="en-US" sz="4468">
                <a:solidFill>
                  <a:srgbClr val="545454"/>
                </a:solidFill>
                <a:latin typeface="Garet"/>
                <a:ea typeface="Garet"/>
                <a:cs typeface="Garet"/>
                <a:sym typeface="Garet"/>
              </a:rPr>
              <a:t>By Alexandro Ornelas ST10437348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1028700" y="3052604"/>
            <a:ext cx="11400286" cy="4631846"/>
          </a:xfrm>
          <a:prstGeom prst="rect">
            <a:avLst/>
          </a:prstGeom>
        </p:spPr>
        <p:txBody>
          <a:bodyPr lIns="0" tIns="0" rIns="0" bIns="0" rtlCol="0" anchor="t">
            <a:spAutoFit/>
          </a:bodyPr>
          <a:lstStyle/>
          <a:p>
            <a:pPr algn="l">
              <a:lnSpc>
                <a:spcPts val="4576"/>
              </a:lnSpc>
              <a:spcBef>
                <a:spcPct val="0"/>
              </a:spcBef>
            </a:pPr>
            <a:r>
              <a:rPr lang="en-US" sz="3268">
                <a:solidFill>
                  <a:srgbClr val="545454"/>
                </a:solidFill>
                <a:latin typeface="Garet"/>
                <a:ea typeface="Garet"/>
                <a:cs typeface="Garet"/>
                <a:sym typeface="Garet"/>
              </a:rPr>
              <a:t>The Contract Monthly Claim System (CMCS) streamlines monthly claim submissions by automating calculations and validation checks, reducing manual paperwork. With dedicated roles for Lecturers, Coordinators, Managers and HR, the system improves accuracy, efficiency and secure document handling across the entire claims workflow.</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6" name="Freeform 6"/>
          <p:cNvSpPr/>
          <p:nvPr/>
        </p:nvSpPr>
        <p:spPr>
          <a:xfrm>
            <a:off x="12774015" y="2870566"/>
            <a:ext cx="4973623" cy="5062597"/>
          </a:xfrm>
          <a:custGeom>
            <a:avLst/>
            <a:gdLst/>
            <a:ahLst/>
            <a:cxnLst/>
            <a:rect l="l" t="t" r="r" b="b"/>
            <a:pathLst>
              <a:path w="4973623" h="5062597">
                <a:moveTo>
                  <a:pt x="0" y="0"/>
                </a:moveTo>
                <a:lnTo>
                  <a:pt x="4973623" y="0"/>
                </a:lnTo>
                <a:lnTo>
                  <a:pt x="4973623" y="5062597"/>
                </a:lnTo>
                <a:lnTo>
                  <a:pt x="0" y="5062597"/>
                </a:lnTo>
                <a:lnTo>
                  <a:pt x="0" y="0"/>
                </a:lnTo>
                <a:close/>
              </a:path>
            </a:pathLst>
          </a:custGeom>
          <a:blipFill>
            <a:blip r:embed="rId6"/>
            <a:stretch>
              <a:fillRect/>
            </a:stretch>
          </a:blipFill>
        </p:spPr>
        <p:txBody>
          <a:bodyPr/>
          <a:lstStyle/>
          <a:p>
            <a:endParaRPr lang="en-GB"/>
          </a:p>
        </p:txBody>
      </p:sp>
      <p:sp>
        <p:nvSpPr>
          <p:cNvPr id="7" name="TextBox 7"/>
          <p:cNvSpPr txBox="1"/>
          <p:nvPr/>
        </p:nvSpPr>
        <p:spPr>
          <a:xfrm>
            <a:off x="4541415" y="1190780"/>
            <a:ext cx="9205169"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Background</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1607828" y="3375265"/>
            <a:ext cx="11400286" cy="346979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Built with ASP.NET Core MVC</a:t>
            </a:r>
          </a:p>
          <a:p>
            <a:pPr marL="705747" lvl="1" indent="-352873" algn="l">
              <a:lnSpc>
                <a:spcPts val="4576"/>
              </a:lnSpc>
              <a:buFont typeface="Arial"/>
              <a:buChar char="•"/>
            </a:pPr>
            <a:r>
              <a:rPr lang="en-US" sz="3268">
                <a:solidFill>
                  <a:srgbClr val="545454"/>
                </a:solidFill>
                <a:latin typeface="Garet"/>
                <a:ea typeface="Garet"/>
                <a:cs typeface="Garet"/>
                <a:sym typeface="Garet"/>
              </a:rPr>
              <a:t>Entity Framework Core + SQL Server (Azure)</a:t>
            </a:r>
          </a:p>
          <a:p>
            <a:pPr marL="705747" lvl="1" indent="-352873" algn="l">
              <a:lnSpc>
                <a:spcPts val="4576"/>
              </a:lnSpc>
              <a:buFont typeface="Arial"/>
              <a:buChar char="•"/>
            </a:pPr>
            <a:r>
              <a:rPr lang="en-US" sz="3268">
                <a:solidFill>
                  <a:srgbClr val="545454"/>
                </a:solidFill>
                <a:latin typeface="Garet"/>
                <a:ea typeface="Garet"/>
                <a:cs typeface="Garet"/>
                <a:sym typeface="Garet"/>
              </a:rPr>
              <a:t>Encrypted file storage</a:t>
            </a:r>
          </a:p>
          <a:p>
            <a:pPr marL="705747" lvl="1" indent="-352873" algn="l">
              <a:lnSpc>
                <a:spcPts val="4576"/>
              </a:lnSpc>
              <a:buFont typeface="Arial"/>
              <a:buChar char="•"/>
            </a:pPr>
            <a:r>
              <a:rPr lang="en-US" sz="3268">
                <a:solidFill>
                  <a:srgbClr val="545454"/>
                </a:solidFill>
                <a:latin typeface="Garet"/>
                <a:ea typeface="Garet"/>
                <a:cs typeface="Garet"/>
                <a:sym typeface="Garet"/>
              </a:rPr>
              <a:t>Session-based authentication</a:t>
            </a:r>
          </a:p>
          <a:p>
            <a:pPr marL="705747" lvl="1" indent="-352873" algn="l">
              <a:lnSpc>
                <a:spcPts val="4576"/>
              </a:lnSpc>
              <a:buFont typeface="Arial"/>
              <a:buChar char="•"/>
            </a:pPr>
            <a:r>
              <a:rPr lang="en-US" sz="3268">
                <a:solidFill>
                  <a:srgbClr val="545454"/>
                </a:solidFill>
                <a:latin typeface="Garet"/>
                <a:ea typeface="Garet"/>
                <a:cs typeface="Garet"/>
                <a:sym typeface="Garet"/>
              </a:rPr>
              <a:t>Automated claim validation</a:t>
            </a:r>
          </a:p>
          <a:p>
            <a:pPr algn="l">
              <a:lnSpc>
                <a:spcPts val="4576"/>
              </a:lnSpc>
              <a:spcBef>
                <a:spcPct val="0"/>
              </a:spcBef>
            </a:pPr>
            <a:endParaRPr lang="en-US" sz="3268">
              <a:solidFill>
                <a:srgbClr val="545454"/>
              </a:solidFill>
              <a:latin typeface="Garet"/>
              <a:ea typeface="Garet"/>
              <a:cs typeface="Garet"/>
              <a:sym typeface="Garet"/>
            </a:endParaRP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6" name="Freeform 6"/>
          <p:cNvSpPr/>
          <p:nvPr/>
        </p:nvSpPr>
        <p:spPr>
          <a:xfrm>
            <a:off x="13169876" y="1920675"/>
            <a:ext cx="3153089" cy="7279927"/>
          </a:xfrm>
          <a:custGeom>
            <a:avLst/>
            <a:gdLst/>
            <a:ahLst/>
            <a:cxnLst/>
            <a:rect l="l" t="t" r="r" b="b"/>
            <a:pathLst>
              <a:path w="3153089" h="7279927">
                <a:moveTo>
                  <a:pt x="0" y="0"/>
                </a:moveTo>
                <a:lnTo>
                  <a:pt x="3153089" y="0"/>
                </a:lnTo>
                <a:lnTo>
                  <a:pt x="3153089" y="7279927"/>
                </a:lnTo>
                <a:lnTo>
                  <a:pt x="0" y="7279927"/>
                </a:lnTo>
                <a:lnTo>
                  <a:pt x="0" y="0"/>
                </a:lnTo>
                <a:close/>
              </a:path>
            </a:pathLst>
          </a:custGeom>
          <a:blipFill>
            <a:blip r:embed="rId6"/>
            <a:stretch>
              <a:fillRect/>
            </a:stretch>
          </a:blipFill>
        </p:spPr>
        <p:txBody>
          <a:bodyPr/>
          <a:lstStyle/>
          <a:p>
            <a:endParaRPr lang="en-GB"/>
          </a:p>
        </p:txBody>
      </p:sp>
      <p:sp>
        <p:nvSpPr>
          <p:cNvPr id="7" name="TextBox 7"/>
          <p:cNvSpPr txBox="1"/>
          <p:nvPr/>
        </p:nvSpPr>
        <p:spPr>
          <a:xfrm>
            <a:off x="2287517" y="528183"/>
            <a:ext cx="13712966"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System Architecture</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3671099" y="1850726"/>
            <a:ext cx="10696221" cy="346979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Lecturer: Submit claims, upload documentation and view claim status</a:t>
            </a:r>
          </a:p>
          <a:p>
            <a:pPr marL="705747" lvl="1" indent="-352873" algn="l">
              <a:lnSpc>
                <a:spcPts val="4576"/>
              </a:lnSpc>
              <a:buFont typeface="Arial"/>
              <a:buChar char="•"/>
            </a:pPr>
            <a:r>
              <a:rPr lang="en-US" sz="3268">
                <a:solidFill>
                  <a:srgbClr val="545454"/>
                </a:solidFill>
                <a:latin typeface="Garet"/>
                <a:ea typeface="Garet"/>
                <a:cs typeface="Garet"/>
                <a:sym typeface="Garet"/>
              </a:rPr>
              <a:t>Coordinator: First-level review &amp; approval</a:t>
            </a:r>
          </a:p>
          <a:p>
            <a:pPr marL="705747" lvl="1" indent="-352873" algn="l">
              <a:lnSpc>
                <a:spcPts val="4576"/>
              </a:lnSpc>
              <a:buFont typeface="Arial"/>
              <a:buChar char="•"/>
            </a:pPr>
            <a:r>
              <a:rPr lang="en-US" sz="3268">
                <a:solidFill>
                  <a:srgbClr val="545454"/>
                </a:solidFill>
                <a:latin typeface="Garet"/>
                <a:ea typeface="Garet"/>
                <a:cs typeface="Garet"/>
                <a:sym typeface="Garet"/>
              </a:rPr>
              <a:t>Manager: Final approval</a:t>
            </a:r>
          </a:p>
          <a:p>
            <a:pPr marL="705747" lvl="1" indent="-352873" algn="l">
              <a:lnSpc>
                <a:spcPts val="4576"/>
              </a:lnSpc>
              <a:buFont typeface="Arial"/>
              <a:buChar char="•"/>
            </a:pPr>
            <a:r>
              <a:rPr lang="en-US" sz="3268">
                <a:solidFill>
                  <a:srgbClr val="545454"/>
                </a:solidFill>
                <a:latin typeface="Garet"/>
                <a:ea typeface="Garet"/>
                <a:cs typeface="Garet"/>
                <a:sym typeface="Garet"/>
              </a:rPr>
              <a:t>HR: User management and report generation</a:t>
            </a:r>
          </a:p>
          <a:p>
            <a:pPr algn="l">
              <a:lnSpc>
                <a:spcPts val="4576"/>
              </a:lnSpc>
              <a:spcBef>
                <a:spcPct val="0"/>
              </a:spcBef>
            </a:pPr>
            <a:endParaRPr lang="en-US" sz="3268">
              <a:solidFill>
                <a:srgbClr val="545454"/>
              </a:solidFill>
              <a:latin typeface="Garet"/>
              <a:ea typeface="Garet"/>
              <a:cs typeface="Garet"/>
              <a:sym typeface="Garet"/>
            </a:endParaRP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6" name="Freeform 6"/>
          <p:cNvSpPr/>
          <p:nvPr/>
        </p:nvSpPr>
        <p:spPr>
          <a:xfrm>
            <a:off x="3097714" y="5006247"/>
            <a:ext cx="12438463" cy="4099080"/>
          </a:xfrm>
          <a:custGeom>
            <a:avLst/>
            <a:gdLst/>
            <a:ahLst/>
            <a:cxnLst/>
            <a:rect l="l" t="t" r="r" b="b"/>
            <a:pathLst>
              <a:path w="12438463" h="4099080">
                <a:moveTo>
                  <a:pt x="0" y="0"/>
                </a:moveTo>
                <a:lnTo>
                  <a:pt x="12438462" y="0"/>
                </a:lnTo>
                <a:lnTo>
                  <a:pt x="12438462" y="4099081"/>
                </a:lnTo>
                <a:lnTo>
                  <a:pt x="0" y="4099081"/>
                </a:lnTo>
                <a:lnTo>
                  <a:pt x="0" y="0"/>
                </a:lnTo>
                <a:close/>
              </a:path>
            </a:pathLst>
          </a:custGeom>
          <a:blipFill>
            <a:blip r:embed="rId6"/>
            <a:stretch>
              <a:fillRect b="-1274"/>
            </a:stretch>
          </a:blipFill>
        </p:spPr>
        <p:txBody>
          <a:bodyPr/>
          <a:lstStyle/>
          <a:p>
            <a:endParaRPr lang="en-GB"/>
          </a:p>
        </p:txBody>
      </p:sp>
      <p:sp>
        <p:nvSpPr>
          <p:cNvPr id="7" name="TextBox 7"/>
          <p:cNvSpPr txBox="1"/>
          <p:nvPr/>
        </p:nvSpPr>
        <p:spPr>
          <a:xfrm>
            <a:off x="3789667" y="243465"/>
            <a:ext cx="10708665"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Roles Overview</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4734921" y="1691544"/>
            <a:ext cx="8818157" cy="4050821"/>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Auto-calculated claim totals (Hours × Hourly Rate)</a:t>
            </a:r>
          </a:p>
          <a:p>
            <a:pPr marL="705747" lvl="1" indent="-352873" algn="l">
              <a:lnSpc>
                <a:spcPts val="4576"/>
              </a:lnSpc>
              <a:buFont typeface="Arial"/>
              <a:buChar char="•"/>
            </a:pPr>
            <a:r>
              <a:rPr lang="en-US" sz="3268">
                <a:solidFill>
                  <a:srgbClr val="545454"/>
                </a:solidFill>
                <a:latin typeface="Garet"/>
                <a:ea typeface="Garet"/>
                <a:cs typeface="Garet"/>
                <a:sym typeface="Garet"/>
              </a:rPr>
              <a:t>Error handling when hours exceed 180</a:t>
            </a:r>
          </a:p>
          <a:p>
            <a:pPr marL="705747" lvl="1" indent="-352873" algn="l">
              <a:lnSpc>
                <a:spcPts val="4576"/>
              </a:lnSpc>
              <a:buFont typeface="Arial"/>
              <a:buChar char="•"/>
            </a:pPr>
            <a:r>
              <a:rPr lang="en-US" sz="3268">
                <a:solidFill>
                  <a:srgbClr val="545454"/>
                </a:solidFill>
                <a:latin typeface="Garet"/>
                <a:ea typeface="Garet"/>
                <a:cs typeface="Garet"/>
                <a:sym typeface="Garet"/>
              </a:rPr>
              <a:t>Submit &amp; upload documents</a:t>
            </a:r>
          </a:p>
          <a:p>
            <a:pPr marL="705747" lvl="1" indent="-352873" algn="l">
              <a:lnSpc>
                <a:spcPts val="4576"/>
              </a:lnSpc>
              <a:buFont typeface="Arial"/>
              <a:buChar char="•"/>
            </a:pPr>
            <a:r>
              <a:rPr lang="en-US" sz="3268">
                <a:solidFill>
                  <a:srgbClr val="545454"/>
                </a:solidFill>
                <a:latin typeface="Garet"/>
                <a:ea typeface="Garet"/>
                <a:cs typeface="Garet"/>
                <a:sym typeface="Garet"/>
              </a:rPr>
              <a:t>Track claim progress</a:t>
            </a:r>
          </a:p>
          <a:p>
            <a:pPr algn="l">
              <a:lnSpc>
                <a:spcPts val="4576"/>
              </a:lnSpc>
            </a:pPr>
            <a:endParaRPr lang="en-US" sz="3268">
              <a:solidFill>
                <a:srgbClr val="545454"/>
              </a:solidFill>
              <a:latin typeface="Garet"/>
              <a:ea typeface="Garet"/>
              <a:cs typeface="Garet"/>
              <a:sym typeface="Garet"/>
            </a:endParaRP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6" name="Freeform 6"/>
          <p:cNvSpPr/>
          <p:nvPr/>
        </p:nvSpPr>
        <p:spPr>
          <a:xfrm>
            <a:off x="2876146" y="5628920"/>
            <a:ext cx="12091851" cy="3476407"/>
          </a:xfrm>
          <a:custGeom>
            <a:avLst/>
            <a:gdLst/>
            <a:ahLst/>
            <a:cxnLst/>
            <a:rect l="l" t="t" r="r" b="b"/>
            <a:pathLst>
              <a:path w="12091851" h="3476407">
                <a:moveTo>
                  <a:pt x="0" y="0"/>
                </a:moveTo>
                <a:lnTo>
                  <a:pt x="12091851" y="0"/>
                </a:lnTo>
                <a:lnTo>
                  <a:pt x="12091851" y="3476408"/>
                </a:lnTo>
                <a:lnTo>
                  <a:pt x="0" y="3476408"/>
                </a:lnTo>
                <a:lnTo>
                  <a:pt x="0" y="0"/>
                </a:lnTo>
                <a:close/>
              </a:path>
            </a:pathLst>
          </a:custGeom>
          <a:blipFill>
            <a:blip r:embed="rId6"/>
            <a:stretch>
              <a:fillRect/>
            </a:stretch>
          </a:blipFill>
        </p:spPr>
        <p:txBody>
          <a:bodyPr/>
          <a:lstStyle/>
          <a:p>
            <a:endParaRPr lang="en-GB"/>
          </a:p>
        </p:txBody>
      </p:sp>
      <p:sp>
        <p:nvSpPr>
          <p:cNvPr id="7" name="TextBox 7"/>
          <p:cNvSpPr txBox="1"/>
          <p:nvPr/>
        </p:nvSpPr>
        <p:spPr>
          <a:xfrm>
            <a:off x="3921814" y="111335"/>
            <a:ext cx="11523521" cy="1293017"/>
          </a:xfrm>
          <a:prstGeom prst="rect">
            <a:avLst/>
          </a:prstGeom>
        </p:spPr>
        <p:txBody>
          <a:bodyPr lIns="0" tIns="0" rIns="0" bIns="0" rtlCol="0" anchor="t">
            <a:spAutoFit/>
          </a:bodyPr>
          <a:lstStyle/>
          <a:p>
            <a:pPr algn="ctr">
              <a:lnSpc>
                <a:spcPts val="10631"/>
              </a:lnSpc>
            </a:pPr>
            <a:r>
              <a:rPr lang="en-US" sz="7593" b="1">
                <a:solidFill>
                  <a:srgbClr val="3F3D3E"/>
                </a:solidFill>
                <a:latin typeface="Alexandria Bold"/>
                <a:ea typeface="Alexandria Bold"/>
                <a:cs typeface="Alexandria Bold"/>
                <a:sym typeface="Alexandria Bold"/>
              </a:rPr>
              <a:t>Lecturer Features</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6587970" y="1635957"/>
            <a:ext cx="5112061" cy="4633179"/>
          </a:xfrm>
          <a:custGeom>
            <a:avLst/>
            <a:gdLst/>
            <a:ahLst/>
            <a:cxnLst/>
            <a:rect l="l" t="t" r="r" b="b"/>
            <a:pathLst>
              <a:path w="5112061" h="4633179">
                <a:moveTo>
                  <a:pt x="0" y="0"/>
                </a:moveTo>
                <a:lnTo>
                  <a:pt x="5112060" y="0"/>
                </a:lnTo>
                <a:lnTo>
                  <a:pt x="5112060" y="4633179"/>
                </a:lnTo>
                <a:lnTo>
                  <a:pt x="0" y="4633179"/>
                </a:lnTo>
                <a:lnTo>
                  <a:pt x="0" y="0"/>
                </a:lnTo>
                <a:close/>
              </a:path>
            </a:pathLst>
          </a:custGeom>
          <a:blipFill>
            <a:blip r:embed="rId6"/>
            <a:stretch>
              <a:fillRect/>
            </a:stretch>
          </a:blipFill>
        </p:spPr>
        <p:txBody>
          <a:bodyPr/>
          <a:lstStyle/>
          <a:p>
            <a:endParaRPr lang="en-GB"/>
          </a:p>
        </p:txBody>
      </p:sp>
      <p:sp>
        <p:nvSpPr>
          <p:cNvPr id="6" name="Freeform 6"/>
          <p:cNvSpPr/>
          <p:nvPr/>
        </p:nvSpPr>
        <p:spPr>
          <a:xfrm>
            <a:off x="3526253" y="6572981"/>
            <a:ext cx="12346295" cy="2685319"/>
          </a:xfrm>
          <a:custGeom>
            <a:avLst/>
            <a:gdLst/>
            <a:ahLst/>
            <a:cxnLst/>
            <a:rect l="l" t="t" r="r" b="b"/>
            <a:pathLst>
              <a:path w="12346295" h="2685319">
                <a:moveTo>
                  <a:pt x="0" y="0"/>
                </a:moveTo>
                <a:lnTo>
                  <a:pt x="12346295" y="0"/>
                </a:lnTo>
                <a:lnTo>
                  <a:pt x="12346295" y="2685319"/>
                </a:lnTo>
                <a:lnTo>
                  <a:pt x="0" y="2685319"/>
                </a:lnTo>
                <a:lnTo>
                  <a:pt x="0" y="0"/>
                </a:lnTo>
                <a:close/>
              </a:path>
            </a:pathLst>
          </a:custGeom>
          <a:blipFill>
            <a:blip r:embed="rId7"/>
            <a:stretch>
              <a:fillRect/>
            </a:stretch>
          </a:blipFill>
        </p:spPr>
        <p:txBody>
          <a:bodyPr/>
          <a:lstStyle/>
          <a:p>
            <a:endParaRPr lang="en-GB"/>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05</a:t>
            </a:r>
          </a:p>
        </p:txBody>
      </p:sp>
      <p:sp>
        <p:nvSpPr>
          <p:cNvPr id="8" name="TextBox 8"/>
          <p:cNvSpPr txBox="1"/>
          <p:nvPr/>
        </p:nvSpPr>
        <p:spPr>
          <a:xfrm>
            <a:off x="3937640" y="310033"/>
            <a:ext cx="11523521" cy="1293017"/>
          </a:xfrm>
          <a:prstGeom prst="rect">
            <a:avLst/>
          </a:prstGeom>
        </p:spPr>
        <p:txBody>
          <a:bodyPr lIns="0" tIns="0" rIns="0" bIns="0" rtlCol="0" anchor="t">
            <a:spAutoFit/>
          </a:bodyPr>
          <a:lstStyle/>
          <a:p>
            <a:pPr algn="ctr">
              <a:lnSpc>
                <a:spcPts val="10631"/>
              </a:lnSpc>
            </a:pPr>
            <a:r>
              <a:rPr lang="en-US" sz="7593" b="1">
                <a:solidFill>
                  <a:srgbClr val="3F3D3E"/>
                </a:solidFill>
                <a:latin typeface="Alexandria Bold"/>
                <a:ea typeface="Alexandria Bold"/>
                <a:cs typeface="Alexandria Bold"/>
                <a:sym typeface="Alexandria Bold"/>
              </a:rPr>
              <a:t>Lecturer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3544360" y="9071"/>
            <a:ext cx="12845212" cy="28402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Lecturer: Document Upload</a:t>
            </a:r>
          </a:p>
        </p:txBody>
      </p:sp>
      <p:sp>
        <p:nvSpPr>
          <p:cNvPr id="4" name="TextBox 4"/>
          <p:cNvSpPr txBox="1"/>
          <p:nvPr/>
        </p:nvSpPr>
        <p:spPr>
          <a:xfrm>
            <a:off x="3141438" y="4097138"/>
            <a:ext cx="7304536" cy="346979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Document upload with AES encryption</a:t>
            </a:r>
          </a:p>
          <a:p>
            <a:pPr marL="705747" lvl="1" indent="-352873" algn="l">
              <a:lnSpc>
                <a:spcPts val="4576"/>
              </a:lnSpc>
              <a:buFont typeface="Arial"/>
              <a:buChar char="•"/>
            </a:pPr>
            <a:r>
              <a:rPr lang="en-US" sz="3268">
                <a:solidFill>
                  <a:srgbClr val="545454"/>
                </a:solidFill>
                <a:latin typeface="Garet"/>
                <a:ea typeface="Garet"/>
                <a:cs typeface="Garet"/>
                <a:sym typeface="Garet"/>
              </a:rPr>
              <a:t>Supported file types: .pdf, .docx, .xlsx</a:t>
            </a:r>
          </a:p>
          <a:p>
            <a:pPr marL="705747" lvl="1" indent="-352873" algn="l">
              <a:lnSpc>
                <a:spcPts val="4576"/>
              </a:lnSpc>
              <a:buFont typeface="Arial"/>
              <a:buChar char="•"/>
            </a:pPr>
            <a:r>
              <a:rPr lang="en-US" sz="3268">
                <a:solidFill>
                  <a:srgbClr val="545454"/>
                </a:solidFill>
                <a:latin typeface="Garet"/>
                <a:ea typeface="Garet"/>
                <a:cs typeface="Garet"/>
                <a:sym typeface="Garet"/>
              </a:rPr>
              <a:t>Automatically links to clai</a:t>
            </a:r>
          </a:p>
          <a:p>
            <a:pPr algn="l">
              <a:lnSpc>
                <a:spcPts val="4576"/>
              </a:lnSpc>
            </a:pPr>
            <a:endParaRPr lang="en-US" sz="3268">
              <a:solidFill>
                <a:srgbClr val="545454"/>
              </a:solidFill>
              <a:latin typeface="Garet"/>
              <a:ea typeface="Garet"/>
              <a:cs typeface="Garet"/>
              <a:sym typeface="Garet"/>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AutoShape 6"/>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06</a:t>
            </a:r>
          </a:p>
        </p:txBody>
      </p:sp>
      <p:sp>
        <p:nvSpPr>
          <p:cNvPr id="8" name="Freeform 8"/>
          <p:cNvSpPr/>
          <p:nvPr/>
        </p:nvSpPr>
        <p:spPr>
          <a:xfrm>
            <a:off x="10445974" y="3250600"/>
            <a:ext cx="6404069" cy="4923128"/>
          </a:xfrm>
          <a:custGeom>
            <a:avLst/>
            <a:gdLst/>
            <a:ahLst/>
            <a:cxnLst/>
            <a:rect l="l" t="t" r="r" b="b"/>
            <a:pathLst>
              <a:path w="6404069" h="4923128">
                <a:moveTo>
                  <a:pt x="0" y="0"/>
                </a:moveTo>
                <a:lnTo>
                  <a:pt x="6404069" y="0"/>
                </a:lnTo>
                <a:lnTo>
                  <a:pt x="6404069" y="4923128"/>
                </a:lnTo>
                <a:lnTo>
                  <a:pt x="0" y="4923128"/>
                </a:lnTo>
                <a:lnTo>
                  <a:pt x="0" y="0"/>
                </a:lnTo>
                <a:close/>
              </a:path>
            </a:pathLst>
          </a:custGeom>
          <a:blipFill>
            <a:blip r:embed="rId6"/>
            <a:stretch>
              <a:fillRect/>
            </a:stretch>
          </a:blipFill>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9695637" y="3089046"/>
            <a:ext cx="7563663" cy="3303407"/>
          </a:xfrm>
          <a:custGeom>
            <a:avLst/>
            <a:gdLst/>
            <a:ahLst/>
            <a:cxnLst/>
            <a:rect l="l" t="t" r="r" b="b"/>
            <a:pathLst>
              <a:path w="7563663" h="3303407">
                <a:moveTo>
                  <a:pt x="0" y="0"/>
                </a:moveTo>
                <a:lnTo>
                  <a:pt x="7563663" y="0"/>
                </a:lnTo>
                <a:lnTo>
                  <a:pt x="7563663" y="3303407"/>
                </a:lnTo>
                <a:lnTo>
                  <a:pt x="0" y="3303407"/>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2333650" y="462772"/>
            <a:ext cx="13620699"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Automatic Validation</a:t>
            </a:r>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07</a:t>
            </a:r>
          </a:p>
        </p:txBody>
      </p:sp>
      <p:sp>
        <p:nvSpPr>
          <p:cNvPr id="8" name="TextBox 8"/>
          <p:cNvSpPr txBox="1"/>
          <p:nvPr/>
        </p:nvSpPr>
        <p:spPr>
          <a:xfrm>
            <a:off x="1507053" y="2808908"/>
            <a:ext cx="7636947" cy="3755314"/>
          </a:xfrm>
          <a:prstGeom prst="rect">
            <a:avLst/>
          </a:prstGeom>
        </p:spPr>
        <p:txBody>
          <a:bodyPr lIns="0" tIns="0" rIns="0" bIns="0" rtlCol="0" anchor="t">
            <a:spAutoFit/>
          </a:bodyPr>
          <a:lstStyle/>
          <a:p>
            <a:pPr algn="l">
              <a:lnSpc>
                <a:spcPts val="4247"/>
              </a:lnSpc>
            </a:pPr>
            <a:r>
              <a:rPr lang="en-US" sz="3034">
                <a:solidFill>
                  <a:srgbClr val="545454"/>
                </a:solidFill>
                <a:latin typeface="Garet"/>
                <a:ea typeface="Garet"/>
                <a:cs typeface="Garet"/>
                <a:sym typeface="Garet"/>
              </a:rPr>
              <a:t>Rules:</a:t>
            </a:r>
          </a:p>
          <a:p>
            <a:pPr marL="655088" lvl="1" indent="-327544" algn="l">
              <a:lnSpc>
                <a:spcPts val="4247"/>
              </a:lnSpc>
              <a:buFont typeface="Arial"/>
              <a:buChar char="•"/>
            </a:pPr>
            <a:r>
              <a:rPr lang="en-US" sz="3034">
                <a:solidFill>
                  <a:srgbClr val="545454"/>
                </a:solidFill>
                <a:latin typeface="Garet"/>
                <a:ea typeface="Garet"/>
                <a:cs typeface="Garet"/>
                <a:sym typeface="Garet"/>
              </a:rPr>
              <a:t>Hours worked &gt; 150 → Auto-reject</a:t>
            </a:r>
          </a:p>
          <a:p>
            <a:pPr marL="655088" lvl="1" indent="-327544" algn="l">
              <a:lnSpc>
                <a:spcPts val="4247"/>
              </a:lnSpc>
              <a:buFont typeface="Arial"/>
              <a:buChar char="•"/>
            </a:pPr>
            <a:r>
              <a:rPr lang="en-US" sz="3034">
                <a:solidFill>
                  <a:srgbClr val="545454"/>
                </a:solidFill>
                <a:latin typeface="Garet"/>
                <a:ea typeface="Garet"/>
                <a:cs typeface="Garet"/>
                <a:sym typeface="Garet"/>
              </a:rPr>
              <a:t>Hourly rate ≤ HR assigned rate</a:t>
            </a:r>
          </a:p>
          <a:p>
            <a:pPr marL="655088" lvl="1" indent="-327544" algn="l">
              <a:lnSpc>
                <a:spcPts val="4247"/>
              </a:lnSpc>
              <a:buFont typeface="Arial"/>
              <a:buChar char="•"/>
            </a:pPr>
            <a:r>
              <a:rPr lang="en-US" sz="3034">
                <a:solidFill>
                  <a:srgbClr val="545454"/>
                </a:solidFill>
                <a:latin typeface="Garet"/>
                <a:ea typeface="Garet"/>
                <a:cs typeface="Garet"/>
                <a:sym typeface="Garet"/>
              </a:rPr>
              <a:t>Missing supporting documents → flagged</a:t>
            </a:r>
          </a:p>
          <a:p>
            <a:pPr marL="655088" lvl="1" indent="-327544" algn="l">
              <a:lnSpc>
                <a:spcPts val="4247"/>
              </a:lnSpc>
              <a:buFont typeface="Arial"/>
              <a:buChar char="•"/>
            </a:pPr>
            <a:r>
              <a:rPr lang="en-US" sz="3034">
                <a:solidFill>
                  <a:srgbClr val="545454"/>
                </a:solidFill>
                <a:latin typeface="Garet"/>
                <a:ea typeface="Garet"/>
                <a:cs typeface="Garet"/>
                <a:sym typeface="Garet"/>
              </a:rPr>
              <a:t>Auto-approve </a:t>
            </a:r>
          </a:p>
          <a:p>
            <a:pPr algn="l">
              <a:lnSpc>
                <a:spcPts val="4247"/>
              </a:lnSpc>
            </a:pPr>
            <a:endParaRPr lang="en-US" sz="3034">
              <a:solidFill>
                <a:srgbClr val="545454"/>
              </a:solidFill>
              <a:latin typeface="Garet"/>
              <a:ea typeface="Garet"/>
              <a:cs typeface="Garet"/>
              <a:sym typeface="Gare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2857583" y="2482644"/>
            <a:ext cx="13356673" cy="4157264"/>
          </a:xfrm>
          <a:custGeom>
            <a:avLst/>
            <a:gdLst/>
            <a:ahLst/>
            <a:cxnLst/>
            <a:rect l="l" t="t" r="r" b="b"/>
            <a:pathLst>
              <a:path w="13356673" h="4157264">
                <a:moveTo>
                  <a:pt x="0" y="0"/>
                </a:moveTo>
                <a:lnTo>
                  <a:pt x="13356673" y="0"/>
                </a:lnTo>
                <a:lnTo>
                  <a:pt x="13356673" y="4157264"/>
                </a:lnTo>
                <a:lnTo>
                  <a:pt x="0" y="4157264"/>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2333650" y="462772"/>
            <a:ext cx="13620699"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Automatic Validation</a:t>
            </a:r>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08</a:t>
            </a:r>
          </a:p>
        </p:txBody>
      </p:sp>
      <p:sp>
        <p:nvSpPr>
          <p:cNvPr id="8" name="TextBox 8"/>
          <p:cNvSpPr txBox="1"/>
          <p:nvPr/>
        </p:nvSpPr>
        <p:spPr>
          <a:xfrm>
            <a:off x="5380208" y="6829884"/>
            <a:ext cx="7862930" cy="2428416"/>
          </a:xfrm>
          <a:prstGeom prst="rect">
            <a:avLst/>
          </a:prstGeom>
        </p:spPr>
        <p:txBody>
          <a:bodyPr lIns="0" tIns="0" rIns="0" bIns="0" rtlCol="0" anchor="t">
            <a:spAutoFit/>
          </a:bodyPr>
          <a:lstStyle/>
          <a:p>
            <a:pPr marL="499348" lvl="1" indent="-249674" algn="l">
              <a:lnSpc>
                <a:spcPts val="3238"/>
              </a:lnSpc>
              <a:buFont typeface="Arial"/>
              <a:buChar char="•"/>
            </a:pPr>
            <a:r>
              <a:rPr lang="en-US" sz="2312">
                <a:solidFill>
                  <a:srgbClr val="545454"/>
                </a:solidFill>
                <a:latin typeface="Garet"/>
                <a:ea typeface="Garet"/>
                <a:cs typeface="Garet"/>
                <a:sym typeface="Garet"/>
              </a:rPr>
              <a:t>Lecturer “Alex Ornelas” decision approved because it met the requirements.</a:t>
            </a:r>
          </a:p>
          <a:p>
            <a:pPr marL="499348" lvl="1" indent="-249674" algn="l">
              <a:lnSpc>
                <a:spcPts val="3238"/>
              </a:lnSpc>
              <a:buFont typeface="Arial"/>
              <a:buChar char="•"/>
            </a:pPr>
            <a:r>
              <a:rPr lang="en-US" sz="2312">
                <a:solidFill>
                  <a:srgbClr val="545454"/>
                </a:solidFill>
                <a:latin typeface="Garet"/>
                <a:ea typeface="Garet"/>
                <a:cs typeface="Garet"/>
                <a:sym typeface="Garet"/>
              </a:rPr>
              <a:t>Lecturer “Alice Lecturer” is flagged because there is no supporting document and needs to be manually approved</a:t>
            </a:r>
          </a:p>
          <a:p>
            <a:pPr algn="l">
              <a:lnSpc>
                <a:spcPts val="3238"/>
              </a:lnSpc>
            </a:pPr>
            <a:endParaRPr lang="en-US" sz="2312">
              <a:solidFill>
                <a:srgbClr val="545454"/>
              </a:solidFill>
              <a:latin typeface="Garet"/>
              <a:ea typeface="Garet"/>
              <a:cs typeface="Garet"/>
              <a:sym typeface="Gare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10619671" y="2400000"/>
            <a:ext cx="7213391" cy="2667300"/>
          </a:xfrm>
          <a:custGeom>
            <a:avLst/>
            <a:gdLst/>
            <a:ahLst/>
            <a:cxnLst/>
            <a:rect l="l" t="t" r="r" b="b"/>
            <a:pathLst>
              <a:path w="7213391" h="2667300">
                <a:moveTo>
                  <a:pt x="0" y="0"/>
                </a:moveTo>
                <a:lnTo>
                  <a:pt x="7213390" y="0"/>
                </a:lnTo>
                <a:lnTo>
                  <a:pt x="7213390" y="2667300"/>
                </a:lnTo>
                <a:lnTo>
                  <a:pt x="0" y="2667300"/>
                </a:lnTo>
                <a:lnTo>
                  <a:pt x="0" y="0"/>
                </a:lnTo>
                <a:close/>
              </a:path>
            </a:pathLst>
          </a:custGeom>
          <a:blipFill>
            <a:blip r:embed="rId6"/>
            <a:stretch>
              <a:fillRect/>
            </a:stretch>
          </a:blipFill>
        </p:spPr>
        <p:txBody>
          <a:bodyPr/>
          <a:lstStyle/>
          <a:p>
            <a:endParaRPr lang="en-GB"/>
          </a:p>
        </p:txBody>
      </p:sp>
      <p:sp>
        <p:nvSpPr>
          <p:cNvPr id="6" name="Freeform 6"/>
          <p:cNvSpPr/>
          <p:nvPr/>
        </p:nvSpPr>
        <p:spPr>
          <a:xfrm>
            <a:off x="4165987" y="5143500"/>
            <a:ext cx="10828647" cy="4236708"/>
          </a:xfrm>
          <a:custGeom>
            <a:avLst/>
            <a:gdLst/>
            <a:ahLst/>
            <a:cxnLst/>
            <a:rect l="l" t="t" r="r" b="b"/>
            <a:pathLst>
              <a:path w="10828647" h="4236708">
                <a:moveTo>
                  <a:pt x="0" y="0"/>
                </a:moveTo>
                <a:lnTo>
                  <a:pt x="10828647" y="0"/>
                </a:lnTo>
                <a:lnTo>
                  <a:pt x="10828647" y="4236708"/>
                </a:lnTo>
                <a:lnTo>
                  <a:pt x="0" y="4236708"/>
                </a:lnTo>
                <a:lnTo>
                  <a:pt x="0" y="0"/>
                </a:lnTo>
                <a:close/>
              </a:path>
            </a:pathLst>
          </a:custGeom>
          <a:blipFill>
            <a:blip r:embed="rId7"/>
            <a:stretch>
              <a:fillRect/>
            </a:stretch>
          </a:blipFill>
        </p:spPr>
        <p:txBody>
          <a:bodyPr/>
          <a:lstStyle/>
          <a:p>
            <a:endParaRPr lang="en-GB"/>
          </a:p>
        </p:txBody>
      </p:sp>
      <p:sp>
        <p:nvSpPr>
          <p:cNvPr id="7" name="TextBox 7"/>
          <p:cNvSpPr txBox="1"/>
          <p:nvPr/>
        </p:nvSpPr>
        <p:spPr>
          <a:xfrm>
            <a:off x="3702623" y="-345144"/>
            <a:ext cx="12038072" cy="28402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Coordinator/Manager View</a:t>
            </a:r>
          </a:p>
        </p:txBody>
      </p:sp>
      <p:sp>
        <p:nvSpPr>
          <p:cNvPr id="8" name="TextBox 8"/>
          <p:cNvSpPr txBox="1"/>
          <p:nvPr/>
        </p:nvSpPr>
        <p:spPr>
          <a:xfrm>
            <a:off x="341177" y="2546440"/>
            <a:ext cx="11876536" cy="230774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Reviews lecturer claims</a:t>
            </a:r>
          </a:p>
          <a:p>
            <a:pPr marL="705747" lvl="1" indent="-352873" algn="l">
              <a:lnSpc>
                <a:spcPts val="4576"/>
              </a:lnSpc>
              <a:buFont typeface="Arial"/>
              <a:buChar char="•"/>
            </a:pPr>
            <a:r>
              <a:rPr lang="en-US" sz="3268">
                <a:solidFill>
                  <a:srgbClr val="545454"/>
                </a:solidFill>
                <a:latin typeface="Garet"/>
                <a:ea typeface="Garet"/>
                <a:cs typeface="Garet"/>
                <a:sym typeface="Garet"/>
              </a:rPr>
              <a:t>Approves, rejects, delete or adds comments</a:t>
            </a:r>
          </a:p>
          <a:p>
            <a:pPr marL="705747" lvl="1" indent="-352873" algn="l">
              <a:lnSpc>
                <a:spcPts val="4576"/>
              </a:lnSpc>
              <a:buFont typeface="Arial"/>
              <a:buChar char="•"/>
            </a:pPr>
            <a:r>
              <a:rPr lang="en-US" sz="3268">
                <a:solidFill>
                  <a:srgbClr val="545454"/>
                </a:solidFill>
                <a:latin typeface="Garet"/>
                <a:ea typeface="Garet"/>
                <a:cs typeface="Garet"/>
                <a:sym typeface="Garet"/>
              </a:rPr>
              <a:t>Can view supporting documents</a:t>
            </a:r>
          </a:p>
          <a:p>
            <a:pPr marL="705747" lvl="1" indent="-352873" algn="l">
              <a:lnSpc>
                <a:spcPts val="4576"/>
              </a:lnSpc>
              <a:buFont typeface="Arial"/>
              <a:buChar char="•"/>
            </a:pPr>
            <a:r>
              <a:rPr lang="en-US" sz="3268">
                <a:solidFill>
                  <a:srgbClr val="545454"/>
                </a:solidFill>
                <a:latin typeface="Garet"/>
                <a:ea typeface="Garet"/>
                <a:cs typeface="Garet"/>
                <a:sym typeface="Garet"/>
              </a:rPr>
              <a:t>Automated validation runs here</a:t>
            </a:r>
          </a:p>
        </p:txBody>
      </p:sp>
      <p:sp>
        <p:nvSpPr>
          <p:cNvPr id="9" name="TextBox 9"/>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3493371" y="5812566"/>
            <a:ext cx="11301259" cy="3065466"/>
          </a:xfrm>
          <a:custGeom>
            <a:avLst/>
            <a:gdLst/>
            <a:ahLst/>
            <a:cxnLst/>
            <a:rect l="l" t="t" r="r" b="b"/>
            <a:pathLst>
              <a:path w="11301259" h="3065466">
                <a:moveTo>
                  <a:pt x="0" y="0"/>
                </a:moveTo>
                <a:lnTo>
                  <a:pt x="11301258" y="0"/>
                </a:lnTo>
                <a:lnTo>
                  <a:pt x="11301258" y="3065466"/>
                </a:lnTo>
                <a:lnTo>
                  <a:pt x="0" y="3065466"/>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3876712" y="256254"/>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HR Features</a:t>
            </a:r>
          </a:p>
        </p:txBody>
      </p:sp>
      <p:sp>
        <p:nvSpPr>
          <p:cNvPr id="7" name="TextBox 7"/>
          <p:cNvSpPr txBox="1"/>
          <p:nvPr/>
        </p:nvSpPr>
        <p:spPr>
          <a:xfrm>
            <a:off x="3205732" y="2923795"/>
            <a:ext cx="11876536" cy="2888771"/>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Add users (Lecturer, Coordinator, Manager, HR)</a:t>
            </a:r>
          </a:p>
          <a:p>
            <a:pPr marL="705747" lvl="1" indent="-352873" algn="l">
              <a:lnSpc>
                <a:spcPts val="4576"/>
              </a:lnSpc>
              <a:buFont typeface="Arial"/>
              <a:buChar char="•"/>
            </a:pPr>
            <a:r>
              <a:rPr lang="en-US" sz="3268">
                <a:solidFill>
                  <a:srgbClr val="545454"/>
                </a:solidFill>
                <a:latin typeface="Garet"/>
                <a:ea typeface="Garet"/>
                <a:cs typeface="Garet"/>
                <a:sym typeface="Garet"/>
              </a:rPr>
              <a:t>Edit/update user profiles</a:t>
            </a:r>
          </a:p>
          <a:p>
            <a:pPr marL="705747" lvl="1" indent="-352873" algn="l">
              <a:lnSpc>
                <a:spcPts val="4576"/>
              </a:lnSpc>
              <a:buFont typeface="Arial"/>
              <a:buChar char="•"/>
            </a:pPr>
            <a:r>
              <a:rPr lang="en-US" sz="3268">
                <a:solidFill>
                  <a:srgbClr val="545454"/>
                </a:solidFill>
                <a:latin typeface="Garet"/>
                <a:ea typeface="Garet"/>
                <a:cs typeface="Garet"/>
                <a:sym typeface="Garet"/>
              </a:rPr>
              <a:t>Maintain hourly rate, email and names</a:t>
            </a:r>
          </a:p>
          <a:p>
            <a:pPr marL="705747" lvl="1" indent="-352873" algn="l">
              <a:lnSpc>
                <a:spcPts val="4576"/>
              </a:lnSpc>
              <a:buFont typeface="Arial"/>
              <a:buChar char="•"/>
            </a:pPr>
            <a:r>
              <a:rPr lang="en-US" sz="3268">
                <a:solidFill>
                  <a:srgbClr val="545454"/>
                </a:solidFill>
                <a:latin typeface="Garet"/>
                <a:ea typeface="Garet"/>
                <a:cs typeface="Garet"/>
                <a:sym typeface="Garet"/>
              </a:rPr>
              <a:t>Generate PDF reports</a:t>
            </a:r>
          </a:p>
          <a:p>
            <a:pPr algn="l">
              <a:lnSpc>
                <a:spcPts val="4576"/>
              </a:lnSpc>
            </a:pPr>
            <a:endParaRPr lang="en-US" sz="3268">
              <a:solidFill>
                <a:srgbClr val="545454"/>
              </a:solidFill>
              <a:latin typeface="Garet"/>
              <a:ea typeface="Garet"/>
              <a:cs typeface="Garet"/>
              <a:sym typeface="Garet"/>
            </a:endParaRP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3532266" y="2940894"/>
            <a:ext cx="11223469" cy="4405211"/>
          </a:xfrm>
          <a:custGeom>
            <a:avLst/>
            <a:gdLst/>
            <a:ahLst/>
            <a:cxnLst/>
            <a:rect l="l" t="t" r="r" b="b"/>
            <a:pathLst>
              <a:path w="11223469" h="4405211">
                <a:moveTo>
                  <a:pt x="0" y="0"/>
                </a:moveTo>
                <a:lnTo>
                  <a:pt x="11223468" y="0"/>
                </a:lnTo>
                <a:lnTo>
                  <a:pt x="11223468" y="4405212"/>
                </a:lnTo>
                <a:lnTo>
                  <a:pt x="0" y="4405212"/>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3876712" y="-152400"/>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HR Features</a:t>
            </a:r>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3217412" y="5215197"/>
            <a:ext cx="13356673" cy="3890131"/>
          </a:xfrm>
          <a:custGeom>
            <a:avLst/>
            <a:gdLst/>
            <a:ahLst/>
            <a:cxnLst/>
            <a:rect l="l" t="t" r="r" b="b"/>
            <a:pathLst>
              <a:path w="13356673" h="3890131">
                <a:moveTo>
                  <a:pt x="0" y="0"/>
                </a:moveTo>
                <a:lnTo>
                  <a:pt x="13356672" y="0"/>
                </a:lnTo>
                <a:lnTo>
                  <a:pt x="13356672" y="3890131"/>
                </a:lnTo>
                <a:lnTo>
                  <a:pt x="0" y="3890131"/>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3876712" y="-152400"/>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Reporting (HR)</a:t>
            </a:r>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12</a:t>
            </a:r>
          </a:p>
        </p:txBody>
      </p:sp>
      <p:sp>
        <p:nvSpPr>
          <p:cNvPr id="8" name="TextBox 8"/>
          <p:cNvSpPr txBox="1"/>
          <p:nvPr/>
        </p:nvSpPr>
        <p:spPr>
          <a:xfrm>
            <a:off x="4899143" y="2040434"/>
            <a:ext cx="9312680" cy="230774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PDF report generation</a:t>
            </a:r>
          </a:p>
          <a:p>
            <a:pPr marL="705747" lvl="1" indent="-352873" algn="l">
              <a:lnSpc>
                <a:spcPts val="4576"/>
              </a:lnSpc>
              <a:buFont typeface="Arial"/>
              <a:buChar char="•"/>
            </a:pPr>
            <a:r>
              <a:rPr lang="en-US" sz="3268">
                <a:solidFill>
                  <a:srgbClr val="545454"/>
                </a:solidFill>
                <a:latin typeface="Garet"/>
                <a:ea typeface="Garet"/>
                <a:cs typeface="Garet"/>
                <a:sym typeface="Garet"/>
              </a:rPr>
              <a:t>Shows claims over selected date range</a:t>
            </a:r>
          </a:p>
          <a:p>
            <a:pPr marL="705747" lvl="1" indent="-352873" algn="l">
              <a:lnSpc>
                <a:spcPts val="4576"/>
              </a:lnSpc>
              <a:buFont typeface="Arial"/>
              <a:buChar char="•"/>
            </a:pPr>
            <a:r>
              <a:rPr lang="en-US" sz="3268">
                <a:solidFill>
                  <a:srgbClr val="545454"/>
                </a:solidFill>
                <a:latin typeface="Garet"/>
                <a:ea typeface="Garet"/>
                <a:cs typeface="Garet"/>
                <a:sym typeface="Garet"/>
              </a:rPr>
              <a:t>Includes lecturer, amount and status</a:t>
            </a:r>
          </a:p>
          <a:p>
            <a:pPr algn="l">
              <a:lnSpc>
                <a:spcPts val="4576"/>
              </a:lnSpc>
            </a:pPr>
            <a:endParaRPr lang="en-US" sz="3268">
              <a:solidFill>
                <a:srgbClr val="545454"/>
              </a:solidFill>
              <a:latin typeface="Garet"/>
              <a:ea typeface="Garet"/>
              <a:cs typeface="Garet"/>
              <a:sym typeface="Gare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10075919" y="5143500"/>
            <a:ext cx="7060653" cy="3473386"/>
          </a:xfrm>
          <a:custGeom>
            <a:avLst/>
            <a:gdLst/>
            <a:ahLst/>
            <a:cxnLst/>
            <a:rect l="l" t="t" r="r" b="b"/>
            <a:pathLst>
              <a:path w="7060653" h="3473386">
                <a:moveTo>
                  <a:pt x="0" y="0"/>
                </a:moveTo>
                <a:lnTo>
                  <a:pt x="7060653" y="0"/>
                </a:lnTo>
                <a:lnTo>
                  <a:pt x="7060653" y="3473386"/>
                </a:lnTo>
                <a:lnTo>
                  <a:pt x="0" y="3473386"/>
                </a:lnTo>
                <a:lnTo>
                  <a:pt x="0" y="0"/>
                </a:lnTo>
                <a:close/>
              </a:path>
            </a:pathLst>
          </a:custGeom>
          <a:blipFill>
            <a:blip r:embed="rId6"/>
            <a:stretch>
              <a:fillRect/>
            </a:stretch>
          </a:blipFill>
        </p:spPr>
        <p:txBody>
          <a:bodyPr/>
          <a:lstStyle/>
          <a:p>
            <a:endParaRPr lang="en-GB"/>
          </a:p>
        </p:txBody>
      </p:sp>
      <p:sp>
        <p:nvSpPr>
          <p:cNvPr id="6" name="Freeform 6"/>
          <p:cNvSpPr/>
          <p:nvPr/>
        </p:nvSpPr>
        <p:spPr>
          <a:xfrm>
            <a:off x="2126917" y="5143500"/>
            <a:ext cx="7017083" cy="3473386"/>
          </a:xfrm>
          <a:custGeom>
            <a:avLst/>
            <a:gdLst/>
            <a:ahLst/>
            <a:cxnLst/>
            <a:rect l="l" t="t" r="r" b="b"/>
            <a:pathLst>
              <a:path w="7017083" h="3473386">
                <a:moveTo>
                  <a:pt x="0" y="0"/>
                </a:moveTo>
                <a:lnTo>
                  <a:pt x="7017083" y="0"/>
                </a:lnTo>
                <a:lnTo>
                  <a:pt x="7017083" y="3473386"/>
                </a:lnTo>
                <a:lnTo>
                  <a:pt x="0" y="3473386"/>
                </a:lnTo>
                <a:lnTo>
                  <a:pt x="0" y="0"/>
                </a:lnTo>
                <a:close/>
              </a:path>
            </a:pathLst>
          </a:custGeom>
          <a:blipFill>
            <a:blip r:embed="rId7"/>
            <a:stretch>
              <a:fillRect/>
            </a:stretch>
          </a:blipFill>
        </p:spPr>
        <p:txBody>
          <a:bodyPr/>
          <a:lstStyle/>
          <a:p>
            <a:endParaRPr lang="en-GB"/>
          </a:p>
        </p:txBody>
      </p:sp>
      <p:sp>
        <p:nvSpPr>
          <p:cNvPr id="7" name="TextBox 7"/>
          <p:cNvSpPr txBox="1"/>
          <p:nvPr/>
        </p:nvSpPr>
        <p:spPr>
          <a:xfrm>
            <a:off x="3876712" y="-152400"/>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Security Features</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13</a:t>
            </a:r>
          </a:p>
        </p:txBody>
      </p:sp>
      <p:sp>
        <p:nvSpPr>
          <p:cNvPr id="9" name="TextBox 9"/>
          <p:cNvSpPr txBox="1"/>
          <p:nvPr/>
        </p:nvSpPr>
        <p:spPr>
          <a:xfrm>
            <a:off x="4899143" y="2040434"/>
            <a:ext cx="9312680" cy="2888771"/>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Session-based role protection</a:t>
            </a:r>
          </a:p>
          <a:p>
            <a:pPr marL="705747" lvl="1" indent="-352873" algn="l">
              <a:lnSpc>
                <a:spcPts val="4576"/>
              </a:lnSpc>
              <a:buFont typeface="Arial"/>
              <a:buChar char="•"/>
            </a:pPr>
            <a:r>
              <a:rPr lang="en-US" sz="3268">
                <a:solidFill>
                  <a:srgbClr val="545454"/>
                </a:solidFill>
                <a:latin typeface="Garet"/>
                <a:ea typeface="Garet"/>
                <a:cs typeface="Garet"/>
                <a:sym typeface="Garet"/>
              </a:rPr>
              <a:t>Only HR can manage users</a:t>
            </a:r>
          </a:p>
          <a:p>
            <a:pPr marL="705747" lvl="1" indent="-352873" algn="l">
              <a:lnSpc>
                <a:spcPts val="4576"/>
              </a:lnSpc>
              <a:buFont typeface="Arial"/>
              <a:buChar char="•"/>
            </a:pPr>
            <a:r>
              <a:rPr lang="en-US" sz="3268">
                <a:solidFill>
                  <a:srgbClr val="545454"/>
                </a:solidFill>
                <a:latin typeface="Garet"/>
                <a:ea typeface="Garet"/>
                <a:cs typeface="Garet"/>
                <a:sym typeface="Garet"/>
              </a:rPr>
              <a:t>Encrypted documents (AES)</a:t>
            </a:r>
          </a:p>
          <a:p>
            <a:pPr marL="705747" lvl="1" indent="-352873" algn="l">
              <a:lnSpc>
                <a:spcPts val="4576"/>
              </a:lnSpc>
              <a:buFont typeface="Arial"/>
              <a:buChar char="•"/>
            </a:pPr>
            <a:r>
              <a:rPr lang="en-US" sz="3268">
                <a:solidFill>
                  <a:srgbClr val="545454"/>
                </a:solidFill>
                <a:latin typeface="Garet"/>
                <a:ea typeface="Garet"/>
                <a:cs typeface="Garet"/>
                <a:sym typeface="Garet"/>
              </a:rPr>
              <a:t>SQL Server stored securely on Azure</a:t>
            </a:r>
          </a:p>
          <a:p>
            <a:pPr algn="l">
              <a:lnSpc>
                <a:spcPts val="4576"/>
              </a:lnSpc>
            </a:pPr>
            <a:endParaRPr lang="en-US" sz="3268">
              <a:solidFill>
                <a:srgbClr val="545454"/>
              </a:solidFill>
              <a:latin typeface="Garet"/>
              <a:ea typeface="Garet"/>
              <a:cs typeface="Garet"/>
              <a:sym typeface="Gare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TextBox 5"/>
          <p:cNvSpPr txBox="1"/>
          <p:nvPr/>
        </p:nvSpPr>
        <p:spPr>
          <a:xfrm>
            <a:off x="3876712" y="-152400"/>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Database Structure</a:t>
            </a:r>
          </a:p>
        </p:txBody>
      </p:sp>
      <p:sp>
        <p:nvSpPr>
          <p:cNvPr id="6" name="TextBox 6"/>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14</a:t>
            </a:r>
          </a:p>
        </p:txBody>
      </p:sp>
      <p:sp>
        <p:nvSpPr>
          <p:cNvPr id="7" name="TextBox 7"/>
          <p:cNvSpPr txBox="1"/>
          <p:nvPr/>
        </p:nvSpPr>
        <p:spPr>
          <a:xfrm>
            <a:off x="4899143" y="1673704"/>
            <a:ext cx="9312680" cy="346979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EF Core models mapped to SQL tables</a:t>
            </a:r>
          </a:p>
          <a:p>
            <a:pPr marL="705747" lvl="1" indent="-352873" algn="l">
              <a:lnSpc>
                <a:spcPts val="4576"/>
              </a:lnSpc>
              <a:buFont typeface="Arial"/>
              <a:buChar char="•"/>
            </a:pPr>
            <a:r>
              <a:rPr lang="en-US" sz="3268">
                <a:solidFill>
                  <a:srgbClr val="545454"/>
                </a:solidFill>
                <a:latin typeface="Garet"/>
                <a:ea typeface="Garet"/>
                <a:cs typeface="Garet"/>
                <a:sym typeface="Garet"/>
              </a:rPr>
              <a:t>Claims, Users, Lecturers, Documents and Approvals</a:t>
            </a:r>
          </a:p>
          <a:p>
            <a:pPr marL="705747" lvl="1" indent="-352873" algn="l">
              <a:lnSpc>
                <a:spcPts val="4576"/>
              </a:lnSpc>
              <a:buFont typeface="Arial"/>
              <a:buChar char="•"/>
            </a:pPr>
            <a:r>
              <a:rPr lang="en-US" sz="3268">
                <a:solidFill>
                  <a:srgbClr val="545454"/>
                </a:solidFill>
                <a:latin typeface="Garet"/>
                <a:ea typeface="Garet"/>
                <a:cs typeface="Garet"/>
                <a:sym typeface="Garet"/>
              </a:rPr>
              <a:t>Relationships implemented with foreign keys</a:t>
            </a:r>
          </a:p>
          <a:p>
            <a:pPr algn="l">
              <a:lnSpc>
                <a:spcPts val="4576"/>
              </a:lnSpc>
            </a:pPr>
            <a:endParaRPr lang="en-US" sz="3268">
              <a:solidFill>
                <a:srgbClr val="545454"/>
              </a:solidFill>
              <a:latin typeface="Garet"/>
              <a:ea typeface="Garet"/>
              <a:cs typeface="Garet"/>
              <a:sym typeface="Garet"/>
            </a:endParaRPr>
          </a:p>
        </p:txBody>
      </p:sp>
      <p:sp>
        <p:nvSpPr>
          <p:cNvPr id="8" name="Freeform 8"/>
          <p:cNvSpPr/>
          <p:nvPr/>
        </p:nvSpPr>
        <p:spPr>
          <a:xfrm>
            <a:off x="425449" y="4622658"/>
            <a:ext cx="8688942" cy="5480108"/>
          </a:xfrm>
          <a:custGeom>
            <a:avLst/>
            <a:gdLst/>
            <a:ahLst/>
            <a:cxnLst/>
            <a:rect l="l" t="t" r="r" b="b"/>
            <a:pathLst>
              <a:path w="8688942" h="5480108">
                <a:moveTo>
                  <a:pt x="0" y="0"/>
                </a:moveTo>
                <a:lnTo>
                  <a:pt x="8688942" y="0"/>
                </a:lnTo>
                <a:lnTo>
                  <a:pt x="8688942" y="5480108"/>
                </a:lnTo>
                <a:lnTo>
                  <a:pt x="0" y="5480108"/>
                </a:lnTo>
                <a:lnTo>
                  <a:pt x="0" y="0"/>
                </a:lnTo>
                <a:close/>
              </a:path>
            </a:pathLst>
          </a:custGeom>
          <a:blipFill>
            <a:blip r:embed="rId6"/>
            <a:stretch>
              <a:fillRect/>
            </a:stretch>
          </a:blipFill>
        </p:spPr>
        <p:txBody>
          <a:bodyPr/>
          <a:lstStyle/>
          <a:p>
            <a:endParaRPr lang="en-GB"/>
          </a:p>
        </p:txBody>
      </p:sp>
      <p:sp>
        <p:nvSpPr>
          <p:cNvPr id="9" name="Freeform 9"/>
          <p:cNvSpPr/>
          <p:nvPr/>
        </p:nvSpPr>
        <p:spPr>
          <a:xfrm>
            <a:off x="9181668" y="4354646"/>
            <a:ext cx="9106332" cy="4750682"/>
          </a:xfrm>
          <a:custGeom>
            <a:avLst/>
            <a:gdLst/>
            <a:ahLst/>
            <a:cxnLst/>
            <a:rect l="l" t="t" r="r" b="b"/>
            <a:pathLst>
              <a:path w="9106332" h="4750682">
                <a:moveTo>
                  <a:pt x="0" y="0"/>
                </a:moveTo>
                <a:lnTo>
                  <a:pt x="9106332" y="0"/>
                </a:lnTo>
                <a:lnTo>
                  <a:pt x="9106332" y="4750682"/>
                </a:lnTo>
                <a:lnTo>
                  <a:pt x="0" y="4750682"/>
                </a:lnTo>
                <a:lnTo>
                  <a:pt x="0" y="0"/>
                </a:lnTo>
                <a:close/>
              </a:path>
            </a:pathLst>
          </a:custGeom>
          <a:blipFill>
            <a:blip r:embed="rId7"/>
            <a:stretch>
              <a:fillRect b="-285"/>
            </a:stretch>
          </a:blipFill>
        </p:spPr>
        <p:txBody>
          <a:bodyPr/>
          <a:lstStyle/>
          <a:p>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TextBox 5"/>
          <p:cNvSpPr txBox="1"/>
          <p:nvPr/>
        </p:nvSpPr>
        <p:spPr>
          <a:xfrm>
            <a:off x="3876712" y="-152400"/>
            <a:ext cx="12038072"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Database Structure</a:t>
            </a:r>
          </a:p>
        </p:txBody>
      </p:sp>
      <p:sp>
        <p:nvSpPr>
          <p:cNvPr id="6" name="TextBox 6"/>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15</a:t>
            </a:r>
          </a:p>
        </p:txBody>
      </p:sp>
      <p:sp>
        <p:nvSpPr>
          <p:cNvPr id="7" name="Freeform 7"/>
          <p:cNvSpPr/>
          <p:nvPr/>
        </p:nvSpPr>
        <p:spPr>
          <a:xfrm>
            <a:off x="5301887" y="2712981"/>
            <a:ext cx="9187722" cy="6165051"/>
          </a:xfrm>
          <a:custGeom>
            <a:avLst/>
            <a:gdLst/>
            <a:ahLst/>
            <a:cxnLst/>
            <a:rect l="l" t="t" r="r" b="b"/>
            <a:pathLst>
              <a:path w="9187722" h="6165051">
                <a:moveTo>
                  <a:pt x="0" y="0"/>
                </a:moveTo>
                <a:lnTo>
                  <a:pt x="9187722" y="0"/>
                </a:lnTo>
                <a:lnTo>
                  <a:pt x="9187722" y="6165051"/>
                </a:lnTo>
                <a:lnTo>
                  <a:pt x="0" y="6165051"/>
                </a:lnTo>
                <a:lnTo>
                  <a:pt x="0" y="0"/>
                </a:lnTo>
                <a:close/>
              </a:path>
            </a:pathLst>
          </a:custGeom>
          <a:blipFill>
            <a:blip r:embed="rId6"/>
            <a:stretch>
              <a:fillRect/>
            </a:stretch>
          </a:blipFill>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TextBox 5"/>
          <p:cNvSpPr txBox="1"/>
          <p:nvPr/>
        </p:nvSpPr>
        <p:spPr>
          <a:xfrm>
            <a:off x="2831550" y="550652"/>
            <a:ext cx="12624901" cy="1268973"/>
          </a:xfrm>
          <a:prstGeom prst="rect">
            <a:avLst/>
          </a:prstGeom>
        </p:spPr>
        <p:txBody>
          <a:bodyPr lIns="0" tIns="0" rIns="0" bIns="0" rtlCol="0" anchor="t">
            <a:spAutoFit/>
          </a:bodyPr>
          <a:lstStyle/>
          <a:p>
            <a:pPr algn="ctr">
              <a:lnSpc>
                <a:spcPts val="10396"/>
              </a:lnSpc>
            </a:pPr>
            <a:r>
              <a:rPr lang="en-US" sz="7425" b="1">
                <a:solidFill>
                  <a:srgbClr val="3F3D3E"/>
                </a:solidFill>
                <a:latin typeface="Alexandria Bold"/>
                <a:ea typeface="Alexandria Bold"/>
                <a:cs typeface="Alexandria Bold"/>
                <a:sym typeface="Alexandria Bold"/>
              </a:rPr>
              <a:t>Demonstration Summary</a:t>
            </a:r>
          </a:p>
        </p:txBody>
      </p:sp>
      <p:sp>
        <p:nvSpPr>
          <p:cNvPr id="6" name="TextBox 6"/>
          <p:cNvSpPr txBox="1"/>
          <p:nvPr/>
        </p:nvSpPr>
        <p:spPr>
          <a:xfrm>
            <a:off x="3205732" y="3024506"/>
            <a:ext cx="11876536" cy="3469796"/>
          </a:xfrm>
          <a:prstGeom prst="rect">
            <a:avLst/>
          </a:prstGeom>
        </p:spPr>
        <p:txBody>
          <a:bodyPr lIns="0" tIns="0" rIns="0" bIns="0" rtlCol="0" anchor="t">
            <a:spAutoFit/>
          </a:bodyPr>
          <a:lstStyle/>
          <a:p>
            <a:pPr algn="l">
              <a:lnSpc>
                <a:spcPts val="4576"/>
              </a:lnSpc>
            </a:pPr>
            <a:r>
              <a:rPr lang="en-US" sz="3268">
                <a:solidFill>
                  <a:srgbClr val="545454"/>
                </a:solidFill>
                <a:latin typeface="Garet"/>
                <a:ea typeface="Garet"/>
                <a:cs typeface="Garet"/>
                <a:sym typeface="Garet"/>
              </a:rPr>
              <a:t>Summaries of key workflows:</a:t>
            </a:r>
          </a:p>
          <a:p>
            <a:pPr marL="705747" lvl="1" indent="-352873" algn="l">
              <a:lnSpc>
                <a:spcPts val="4576"/>
              </a:lnSpc>
              <a:buFont typeface="Arial"/>
              <a:buChar char="•"/>
            </a:pPr>
            <a:r>
              <a:rPr lang="en-US" sz="3268">
                <a:solidFill>
                  <a:srgbClr val="545454"/>
                </a:solidFill>
                <a:latin typeface="Garet"/>
                <a:ea typeface="Garet"/>
                <a:cs typeface="Garet"/>
                <a:sym typeface="Garet"/>
              </a:rPr>
              <a:t>Lecturer submits claim</a:t>
            </a:r>
          </a:p>
          <a:p>
            <a:pPr marL="705747" lvl="1" indent="-352873" algn="l">
              <a:lnSpc>
                <a:spcPts val="4576"/>
              </a:lnSpc>
              <a:buFont typeface="Arial"/>
              <a:buChar char="•"/>
            </a:pPr>
            <a:r>
              <a:rPr lang="en-US" sz="3268">
                <a:solidFill>
                  <a:srgbClr val="545454"/>
                </a:solidFill>
                <a:latin typeface="Garet"/>
                <a:ea typeface="Garet"/>
                <a:cs typeface="Garet"/>
                <a:sym typeface="Garet"/>
              </a:rPr>
              <a:t>Coordinator reviews and approves / rejects</a:t>
            </a:r>
          </a:p>
          <a:p>
            <a:pPr marL="705747" lvl="1" indent="-352873" algn="l">
              <a:lnSpc>
                <a:spcPts val="4576"/>
              </a:lnSpc>
              <a:buFont typeface="Arial"/>
              <a:buChar char="•"/>
            </a:pPr>
            <a:r>
              <a:rPr lang="en-US" sz="3268">
                <a:solidFill>
                  <a:srgbClr val="545454"/>
                </a:solidFill>
                <a:latin typeface="Garet"/>
                <a:ea typeface="Garet"/>
                <a:cs typeface="Garet"/>
                <a:sym typeface="Garet"/>
              </a:rPr>
              <a:t>Coordinator reviews and approves / rejects</a:t>
            </a:r>
          </a:p>
          <a:p>
            <a:pPr marL="705747" lvl="1" indent="-352873" algn="l">
              <a:lnSpc>
                <a:spcPts val="4576"/>
              </a:lnSpc>
              <a:buFont typeface="Arial"/>
              <a:buChar char="•"/>
            </a:pPr>
            <a:r>
              <a:rPr lang="en-US" sz="3268">
                <a:solidFill>
                  <a:srgbClr val="545454"/>
                </a:solidFill>
                <a:latin typeface="Garet"/>
                <a:ea typeface="Garet"/>
                <a:cs typeface="Garet"/>
                <a:sym typeface="Garet"/>
              </a:rPr>
              <a:t>HR updates user and generates report</a:t>
            </a:r>
          </a:p>
          <a:p>
            <a:pPr algn="l">
              <a:lnSpc>
                <a:spcPts val="4576"/>
              </a:lnSpc>
            </a:pPr>
            <a:endParaRPr lang="en-US" sz="3268">
              <a:solidFill>
                <a:srgbClr val="545454"/>
              </a:solidFill>
              <a:latin typeface="Garet"/>
              <a:ea typeface="Garet"/>
              <a:cs typeface="Garet"/>
              <a:sym typeface="Garet"/>
            </a:endParaRPr>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5" name="Freeform 5"/>
          <p:cNvSpPr/>
          <p:nvPr/>
        </p:nvSpPr>
        <p:spPr>
          <a:xfrm>
            <a:off x="4541415" y="5447355"/>
            <a:ext cx="4014676" cy="1824853"/>
          </a:xfrm>
          <a:custGeom>
            <a:avLst/>
            <a:gdLst/>
            <a:ahLst/>
            <a:cxnLst/>
            <a:rect l="l" t="t" r="r" b="b"/>
            <a:pathLst>
              <a:path w="4014676" h="1824853">
                <a:moveTo>
                  <a:pt x="0" y="0"/>
                </a:moveTo>
                <a:lnTo>
                  <a:pt x="4014677" y="0"/>
                </a:lnTo>
                <a:lnTo>
                  <a:pt x="4014677" y="1824853"/>
                </a:lnTo>
                <a:lnTo>
                  <a:pt x="0" y="1824853"/>
                </a:lnTo>
                <a:lnTo>
                  <a:pt x="0" y="0"/>
                </a:lnTo>
                <a:close/>
              </a:path>
            </a:pathLst>
          </a:custGeom>
          <a:blipFill>
            <a:blip r:embed="rId6"/>
            <a:stretch>
              <a:fillRect/>
            </a:stretch>
          </a:blipFill>
        </p:spPr>
        <p:txBody>
          <a:bodyPr/>
          <a:lstStyle/>
          <a:p>
            <a:endParaRPr lang="en-GB"/>
          </a:p>
        </p:txBody>
      </p:sp>
      <p:sp>
        <p:nvSpPr>
          <p:cNvPr id="6" name="Freeform 6"/>
          <p:cNvSpPr/>
          <p:nvPr/>
        </p:nvSpPr>
        <p:spPr>
          <a:xfrm>
            <a:off x="9469802" y="4242912"/>
            <a:ext cx="5078672" cy="4635120"/>
          </a:xfrm>
          <a:custGeom>
            <a:avLst/>
            <a:gdLst/>
            <a:ahLst/>
            <a:cxnLst/>
            <a:rect l="l" t="t" r="r" b="b"/>
            <a:pathLst>
              <a:path w="5078672" h="4635120">
                <a:moveTo>
                  <a:pt x="0" y="0"/>
                </a:moveTo>
                <a:lnTo>
                  <a:pt x="5078672" y="0"/>
                </a:lnTo>
                <a:lnTo>
                  <a:pt x="5078672" y="4635120"/>
                </a:lnTo>
                <a:lnTo>
                  <a:pt x="0" y="4635120"/>
                </a:lnTo>
                <a:lnTo>
                  <a:pt x="0" y="0"/>
                </a:lnTo>
                <a:close/>
              </a:path>
            </a:pathLst>
          </a:custGeom>
          <a:blipFill>
            <a:blip r:embed="rId7"/>
            <a:stretch>
              <a:fillRect/>
            </a:stretch>
          </a:blipFill>
        </p:spPr>
        <p:txBody>
          <a:bodyPr/>
          <a:lstStyle/>
          <a:p>
            <a:endParaRPr lang="en-GB"/>
          </a:p>
        </p:txBody>
      </p:sp>
      <p:sp>
        <p:nvSpPr>
          <p:cNvPr id="7" name="TextBox 7"/>
          <p:cNvSpPr txBox="1"/>
          <p:nvPr/>
        </p:nvSpPr>
        <p:spPr>
          <a:xfrm>
            <a:off x="2974910" y="120570"/>
            <a:ext cx="12624901" cy="1268973"/>
          </a:xfrm>
          <a:prstGeom prst="rect">
            <a:avLst/>
          </a:prstGeom>
        </p:spPr>
        <p:txBody>
          <a:bodyPr lIns="0" tIns="0" rIns="0" bIns="0" rtlCol="0" anchor="t">
            <a:spAutoFit/>
          </a:bodyPr>
          <a:lstStyle/>
          <a:p>
            <a:pPr algn="ctr">
              <a:lnSpc>
                <a:spcPts val="10396"/>
              </a:lnSpc>
            </a:pPr>
            <a:r>
              <a:rPr lang="en-US" sz="7425" b="1">
                <a:solidFill>
                  <a:srgbClr val="3F3D3E"/>
                </a:solidFill>
                <a:latin typeface="Alexandria Bold"/>
                <a:ea typeface="Alexandria Bold"/>
                <a:cs typeface="Alexandria Bold"/>
                <a:sym typeface="Alexandria Bold"/>
              </a:rPr>
              <a:t>Feedback changes</a:t>
            </a:r>
          </a:p>
        </p:txBody>
      </p:sp>
      <p:sp>
        <p:nvSpPr>
          <p:cNvPr id="8" name="TextBox 8"/>
          <p:cNvSpPr txBox="1"/>
          <p:nvPr/>
        </p:nvSpPr>
        <p:spPr>
          <a:xfrm>
            <a:off x="3349093" y="1569282"/>
            <a:ext cx="11876536" cy="2888771"/>
          </a:xfrm>
          <a:prstGeom prst="rect">
            <a:avLst/>
          </a:prstGeom>
        </p:spPr>
        <p:txBody>
          <a:bodyPr lIns="0" tIns="0" rIns="0" bIns="0" rtlCol="0" anchor="t">
            <a:spAutoFit/>
          </a:bodyPr>
          <a:lstStyle/>
          <a:p>
            <a:pPr algn="l">
              <a:lnSpc>
                <a:spcPts val="4576"/>
              </a:lnSpc>
            </a:pPr>
            <a:endParaRPr/>
          </a:p>
          <a:p>
            <a:pPr marL="705747" lvl="1" indent="-352873" algn="l">
              <a:lnSpc>
                <a:spcPts val="4576"/>
              </a:lnSpc>
              <a:buFont typeface="Arial"/>
              <a:buChar char="•"/>
            </a:pPr>
            <a:r>
              <a:rPr lang="en-US" sz="3268">
                <a:solidFill>
                  <a:srgbClr val="545454"/>
                </a:solidFill>
                <a:latin typeface="Garet"/>
                <a:ea typeface="Garet"/>
                <a:cs typeface="Garet"/>
                <a:sym typeface="Garet"/>
              </a:rPr>
              <a:t>File name does not show, only “Download”</a:t>
            </a:r>
          </a:p>
          <a:p>
            <a:pPr marL="705747" lvl="1" indent="-352873" algn="l">
              <a:lnSpc>
                <a:spcPts val="4576"/>
              </a:lnSpc>
              <a:buFont typeface="Arial"/>
              <a:buChar char="•"/>
            </a:pPr>
            <a:r>
              <a:rPr lang="en-US" sz="3268">
                <a:solidFill>
                  <a:srgbClr val="545454"/>
                </a:solidFill>
                <a:latin typeface="Garet"/>
                <a:ea typeface="Garet"/>
                <a:cs typeface="Garet"/>
                <a:sym typeface="Garet"/>
              </a:rPr>
              <a:t>Lecturer cannot change their hourly rate</a:t>
            </a:r>
          </a:p>
          <a:p>
            <a:pPr marL="705747" lvl="1" indent="-352873" algn="l">
              <a:lnSpc>
                <a:spcPts val="4576"/>
              </a:lnSpc>
              <a:buFont typeface="Arial"/>
              <a:buChar char="•"/>
            </a:pPr>
            <a:r>
              <a:rPr lang="en-US" sz="3268">
                <a:solidFill>
                  <a:srgbClr val="545454"/>
                </a:solidFill>
                <a:latin typeface="Garet"/>
                <a:ea typeface="Garet"/>
                <a:cs typeface="Garet"/>
                <a:sym typeface="Garet"/>
              </a:rPr>
              <a:t>Option to upload document in “Submit Claim” page</a:t>
            </a:r>
          </a:p>
          <a:p>
            <a:pPr algn="l">
              <a:lnSpc>
                <a:spcPts val="4576"/>
              </a:lnSpc>
            </a:pPr>
            <a:endParaRPr lang="en-US" sz="3268">
              <a:solidFill>
                <a:srgbClr val="545454"/>
              </a:solidFill>
              <a:latin typeface="Garet"/>
              <a:ea typeface="Garet"/>
              <a:cs typeface="Garet"/>
              <a:sym typeface="Garet"/>
            </a:endParaRPr>
          </a:p>
        </p:txBody>
      </p:sp>
      <p:sp>
        <p:nvSpPr>
          <p:cNvPr id="9" name="TextBox 9"/>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4541415" y="1000865"/>
            <a:ext cx="9205169" cy="1392492"/>
          </a:xfrm>
          <a:prstGeom prst="rect">
            <a:avLst/>
          </a:prstGeom>
        </p:spPr>
        <p:txBody>
          <a:bodyPr lIns="0" tIns="0" rIns="0" bIns="0" rtlCol="0" anchor="t">
            <a:spAutoFit/>
          </a:bodyPr>
          <a:lstStyle/>
          <a:p>
            <a:pPr algn="ctr">
              <a:lnSpc>
                <a:spcPts val="11448"/>
              </a:lnSpc>
            </a:pPr>
            <a:r>
              <a:rPr lang="en-US" sz="8177" b="1">
                <a:solidFill>
                  <a:srgbClr val="3F3D3E"/>
                </a:solidFill>
                <a:latin typeface="Alexandria Bold"/>
                <a:ea typeface="Alexandria Bold"/>
                <a:cs typeface="Alexandria Bold"/>
                <a:sym typeface="Alexandria Bold"/>
              </a:rPr>
              <a:t>CONCLUSION</a:t>
            </a:r>
          </a:p>
        </p:txBody>
      </p:sp>
      <p:sp>
        <p:nvSpPr>
          <p:cNvPr id="4" name="TextBox 4"/>
          <p:cNvSpPr txBox="1"/>
          <p:nvPr/>
        </p:nvSpPr>
        <p:spPr>
          <a:xfrm>
            <a:off x="3728730" y="3867640"/>
            <a:ext cx="11400286" cy="4631846"/>
          </a:xfrm>
          <a:prstGeom prst="rect">
            <a:avLst/>
          </a:prstGeom>
        </p:spPr>
        <p:txBody>
          <a:bodyPr lIns="0" tIns="0" rIns="0" bIns="0" rtlCol="0" anchor="t">
            <a:spAutoFit/>
          </a:bodyPr>
          <a:lstStyle/>
          <a:p>
            <a:pPr marL="705747" lvl="1" indent="-352873" algn="l">
              <a:lnSpc>
                <a:spcPts val="4576"/>
              </a:lnSpc>
              <a:buFont typeface="Arial"/>
              <a:buChar char="•"/>
            </a:pPr>
            <a:r>
              <a:rPr lang="en-US" sz="3268">
                <a:solidFill>
                  <a:srgbClr val="545454"/>
                </a:solidFill>
                <a:latin typeface="Garet"/>
                <a:ea typeface="Garet"/>
                <a:cs typeface="Garet"/>
                <a:sym typeface="Garet"/>
              </a:rPr>
              <a:t>CMCS improves accuracy and reduces manual admin</a:t>
            </a:r>
          </a:p>
          <a:p>
            <a:pPr marL="705747" lvl="1" indent="-352873" algn="l">
              <a:lnSpc>
                <a:spcPts val="4576"/>
              </a:lnSpc>
              <a:buFont typeface="Arial"/>
              <a:buChar char="•"/>
            </a:pPr>
            <a:r>
              <a:rPr lang="en-US" sz="3268">
                <a:solidFill>
                  <a:srgbClr val="545454"/>
                </a:solidFill>
                <a:latin typeface="Garet"/>
                <a:ea typeface="Garet"/>
                <a:cs typeface="Garet"/>
                <a:sym typeface="Garet"/>
              </a:rPr>
              <a:t>Provides clear workflow between roles</a:t>
            </a:r>
          </a:p>
          <a:p>
            <a:pPr marL="705747" lvl="1" indent="-352873" algn="l">
              <a:lnSpc>
                <a:spcPts val="4576"/>
              </a:lnSpc>
              <a:buFont typeface="Arial"/>
              <a:buChar char="•"/>
            </a:pPr>
            <a:r>
              <a:rPr lang="en-US" sz="3268">
                <a:solidFill>
                  <a:srgbClr val="545454"/>
                </a:solidFill>
                <a:latin typeface="Garet"/>
                <a:ea typeface="Garet"/>
                <a:cs typeface="Garet"/>
                <a:sym typeface="Garet"/>
              </a:rPr>
              <a:t>Secure, user-friendly and database-driven system</a:t>
            </a:r>
          </a:p>
          <a:p>
            <a:pPr marL="705747" lvl="1" indent="-352873" algn="l">
              <a:lnSpc>
                <a:spcPts val="4576"/>
              </a:lnSpc>
              <a:buFont typeface="Arial"/>
              <a:buChar char="•"/>
            </a:pPr>
            <a:r>
              <a:rPr lang="en-US" sz="3268">
                <a:solidFill>
                  <a:srgbClr val="545454"/>
                </a:solidFill>
                <a:latin typeface="Garet"/>
                <a:ea typeface="Garet"/>
                <a:cs typeface="Garet"/>
                <a:sym typeface="Garet"/>
              </a:rPr>
              <a:t>Meets all automation, validation, and reporting requirements</a:t>
            </a:r>
          </a:p>
          <a:p>
            <a:pPr algn="ctr">
              <a:lnSpc>
                <a:spcPts val="4576"/>
              </a:lnSpc>
              <a:spcBef>
                <a:spcPct val="0"/>
              </a:spcBef>
            </a:pPr>
            <a:endParaRPr lang="en-US" sz="3268">
              <a:solidFill>
                <a:srgbClr val="545454"/>
              </a:solidFill>
              <a:latin typeface="Garet"/>
              <a:ea typeface="Garet"/>
              <a:cs typeface="Garet"/>
              <a:sym typeface="Garet"/>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AutoShape 6"/>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7" name="TextBox 7"/>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2668325" y="4041844"/>
            <a:ext cx="12951349" cy="1974712"/>
          </a:xfrm>
          <a:prstGeom prst="rect">
            <a:avLst/>
          </a:prstGeom>
        </p:spPr>
        <p:txBody>
          <a:bodyPr lIns="0" tIns="0" rIns="0" bIns="0" rtlCol="0" anchor="t">
            <a:spAutoFit/>
          </a:bodyPr>
          <a:lstStyle/>
          <a:p>
            <a:pPr algn="ctr">
              <a:lnSpc>
                <a:spcPts val="16107"/>
              </a:lnSpc>
            </a:pPr>
            <a:r>
              <a:rPr lang="en-US" sz="11505" b="1">
                <a:solidFill>
                  <a:srgbClr val="3F3D3E"/>
                </a:solidFill>
                <a:latin typeface="Alexandria Bold"/>
                <a:ea typeface="Alexandria Bold"/>
                <a:cs typeface="Alexandria Bold"/>
                <a:sym typeface="Alexandria Bold"/>
              </a:rPr>
              <a:t>THANK YOU</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txBody>
          <a:bodyPr/>
          <a:lstStyle/>
          <a:p>
            <a:endParaRPr lang="en-GB"/>
          </a:p>
        </p:txBody>
      </p:sp>
      <p:sp>
        <p:nvSpPr>
          <p:cNvPr id="6" name="TextBox 6"/>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446</Words>
  <Application>Microsoft Office PowerPoint</Application>
  <PresentationFormat>Custom</PresentationFormat>
  <Paragraphs>95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Alexandria Bold</vt:lpstr>
      <vt:lpstr>Garet</vt:lpstr>
      <vt:lpstr>Calibri</vt:lpstr>
      <vt:lpstr>Arial</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Professional Project Presentation</dc:title>
  <dc:creator>Loading Name</dc:creator>
  <cp:lastModifiedBy>Loading Name</cp:lastModifiedBy>
  <cp:revision>1</cp:revision>
  <dcterms:created xsi:type="dcterms:W3CDTF">2006-08-16T00:00:00Z</dcterms:created>
  <dcterms:modified xsi:type="dcterms:W3CDTF">2025-11-21T13:22:37Z</dcterms:modified>
  <dc:identifier>DAG5U12guPI</dc:identifier>
</cp:coreProperties>
</file>